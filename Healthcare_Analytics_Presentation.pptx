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-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5873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91D35"/>
          </a:solidFill>
          <a:ln w="12700">
            <a:solidFill>
              <a:srgbClr val="091D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772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3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2697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Learning Project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3182112"/>
            <a:ext cx="347472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3337560"/>
            <a:ext cx="804672" cy="292608"/>
          </a:xfrm>
          <a:prstGeom prst="roundRect">
            <a:avLst>
              <a:gd name="adj" fmla="val 1875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33756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25880" y="3337560"/>
            <a:ext cx="804672" cy="292608"/>
          </a:xfrm>
          <a:prstGeom prst="roundRect">
            <a:avLst>
              <a:gd name="adj" fmla="val 1875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333756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40280" y="3337560"/>
            <a:ext cx="804672" cy="292608"/>
          </a:xfrm>
          <a:prstGeom prst="roundRect">
            <a:avLst>
              <a:gd name="adj" fmla="val 1875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333756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54680" y="3337560"/>
            <a:ext cx="804672" cy="292608"/>
          </a:xfrm>
          <a:prstGeom prst="roundRect">
            <a:avLst>
              <a:gd name="adj" fmla="val 18750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333756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4480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Hiteshi Aglawe  ·  Aspiring Data Analyst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97880" y="502920"/>
            <a:ext cx="1417320" cy="1188720"/>
          </a:xfrm>
          <a:prstGeom prst="rect">
            <a:avLst/>
          </a:prstGeom>
          <a:solidFill>
            <a:srgbClr val="122D4B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97880" y="57607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97880" y="88696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897880" y="13075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43800" y="502920"/>
            <a:ext cx="1417320" cy="1188720"/>
          </a:xfrm>
          <a:prstGeom prst="rect">
            <a:avLst/>
          </a:prstGeom>
          <a:solidFill>
            <a:srgbClr val="122D4B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43800" y="57607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🧪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43800" y="88696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11,147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43800" y="13075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Records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97880" y="1874520"/>
            <a:ext cx="1417320" cy="1188720"/>
          </a:xfrm>
          <a:prstGeom prst="rect">
            <a:avLst/>
          </a:prstGeom>
          <a:solidFill>
            <a:srgbClr val="122D4B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97880" y="194767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🗄️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97880" y="225856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897880" y="26791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543800" y="1874520"/>
            <a:ext cx="1417320" cy="1188720"/>
          </a:xfrm>
          <a:prstGeom prst="rect">
            <a:avLst/>
          </a:prstGeom>
          <a:solidFill>
            <a:srgbClr val="122D4B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43800" y="194767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43800" y="225856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543800" y="26791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97880" y="3246120"/>
            <a:ext cx="1417320" cy="1188720"/>
          </a:xfrm>
          <a:prstGeom prst="rect">
            <a:avLst/>
          </a:prstGeom>
          <a:solidFill>
            <a:srgbClr val="122D4B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897880" y="331927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👨‍⚕️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897880" y="363016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897880" y="40507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43800" y="3246120"/>
            <a:ext cx="1417320" cy="1188720"/>
          </a:xfrm>
          <a:prstGeom prst="rect">
            <a:avLst/>
          </a:prstGeom>
          <a:solidFill>
            <a:srgbClr val="122D4B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543800" y="331927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43800" y="363016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543800" y="40507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self-driven, end-to-end data analytics project built around a single coherent healthcare dataset — designed, populated, and analysed across SQL, Excel, and Python. Every tool was applied to the same dataset so each layer of learning built directly on the previous one.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47472" y="1810512"/>
            <a:ext cx="2651760" cy="233172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810512"/>
            <a:ext cx="265176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920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23225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24323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 analytical skills using a healthcare scenario — not isolated tutorials — with the same dataset applied across all tools.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810512"/>
            <a:ext cx="2651760" cy="233172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810512"/>
            <a:ext cx="265176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920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23225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2697480"/>
            <a:ext cx="24323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SQL → Excel → Python progressively. Each tool's output informed the next layer of analysis and cross-validated results.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1810512"/>
            <a:ext cx="2651760" cy="233172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53328" y="1810512"/>
            <a:ext cx="265176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1920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53328" y="23225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63056" y="2697480"/>
            <a:ext cx="24323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SQL queries from beginner to advanced, 12 Excel formulas, an ML risk model, and a deployed Streamlit prediction app.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  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94560" y="4626864"/>
            <a:ext cx="1664208" cy="26517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4626864"/>
            <a:ext cx="166420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959352" y="4626864"/>
            <a:ext cx="1664208" cy="26517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59352" y="4626864"/>
            <a:ext cx="166420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(18 queries)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724144" y="4626864"/>
            <a:ext cx="1664208" cy="26517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24144" y="4626864"/>
            <a:ext cx="166420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ML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488936" y="4626864"/>
            <a:ext cx="1664208" cy="265176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88936" y="4626864"/>
            <a:ext cx="166420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— 6-Table Relational Schema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627632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40233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51560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patients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rows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700784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PatientID · Age · Gender · DiagnosisID · DoctorID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AdmissionDate · DischargeDate · OutcomeID · TreatmentCost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43200" cy="1627632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743200" cy="40233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051560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labs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4630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11,147 rows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700784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LabID · PatientID · TestName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· NormalRange · TestDate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743200" cy="1627632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05840"/>
            <a:ext cx="2743200" cy="40233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051560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  doctors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4630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rows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9360" y="1700784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DoctorID · DoctorName · Gender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DepartmentID · Specialty · ExperienceYears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743200" cy="1627632"/>
          </a:xfrm>
          <a:prstGeom prst="rect">
            <a:avLst/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34640"/>
            <a:ext cx="2743200" cy="402336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880360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departments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2918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rows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3529584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DepartmentID · DepartmentName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46120" y="2834640"/>
            <a:ext cx="2743200" cy="1627632"/>
          </a:xfrm>
          <a:prstGeom prst="rect">
            <a:avLst/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834640"/>
            <a:ext cx="2743200" cy="402336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2880360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🦠  diagnoses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37560" y="32918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rows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37560" y="3529584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DiagnosisID · DiagnosisName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17920" y="2834640"/>
            <a:ext cx="2743200" cy="1627632"/>
          </a:xfrm>
          <a:prstGeom prst="rect">
            <a:avLst/>
          </a:prstGeom>
          <a:solidFill>
            <a:srgbClr val="F5F5F5"/>
          </a:solidFill>
          <a:ln w="12700">
            <a:solidFill>
              <a:srgbClr val="5F5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834640"/>
            <a:ext cx="2743200" cy="402336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2880360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outcomes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32918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rows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3529584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OutcomeID · OutcomeName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(Recovered / Complicated / Deceased)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6177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patients → diagnoses  ·  patients → doctors  ·  patients → outcomes  ·  labs → patients  ·  doctors → departments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Analysis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325880"/>
            <a:ext cx="4672330" cy="3539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2064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Questions Answered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120640" y="1444752"/>
            <a:ext cx="3703320" cy="59436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120640" y="1444752"/>
            <a:ext cx="54864" cy="5943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30368" y="1481328"/>
            <a:ext cx="3547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patients are at highest clinical risk?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230368" y="1746504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Q9  ·  Excel Severity Score  ·  Python ML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120640" y="2121408"/>
            <a:ext cx="3703320" cy="59436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20640" y="2121408"/>
            <a:ext cx="54864" cy="5943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30368" y="2157984"/>
            <a:ext cx="3547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diagnosis has the highest treatment cost burden?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230368" y="2423160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Q4  ·  Excel SUMIF  ·  Python groupby()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120640" y="2798064"/>
            <a:ext cx="3703320" cy="59436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120640" y="2798064"/>
            <a:ext cx="54864" cy="5943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30368" y="2834640"/>
            <a:ext cx="3547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lab results trend during a patient's stay?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230368" y="3099816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Q7, Q16  ·  Python .shift() / LAG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120640" y="3474720"/>
            <a:ext cx="3703320" cy="59436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120640" y="3474720"/>
            <a:ext cx="54864" cy="5943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30368" y="3511296"/>
            <a:ext cx="3547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doctors have the best recovery rates?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230368" y="3776472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Q10  ·  Excel SUMIF  ·  Python merge()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120640" y="4151376"/>
            <a:ext cx="3703320" cy="59436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120640" y="4151376"/>
            <a:ext cx="54864" cy="5943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30368" y="4187952"/>
            <a:ext cx="3547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patient outcome — age, cost or labs?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230368" y="4453128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Logistic Regression model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SQL  (Microsoft SQL Server)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0" y="173736"/>
            <a:ext cx="1920240" cy="3200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7373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Queries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60120"/>
            <a:ext cx="393192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43400" y="10058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Concepts Covered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43400" y="1389888"/>
            <a:ext cx="4389120" cy="621792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43400" y="1389888"/>
            <a:ext cx="54864" cy="6217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53128" y="1426464"/>
            <a:ext cx="4187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453128" y="1664208"/>
            <a:ext cx="4187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· WHERE · GROUP BY · HAVING · ORDER BY · multi-table JOINs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343400" y="2103120"/>
            <a:ext cx="4389120" cy="621792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43400" y="2103120"/>
            <a:ext cx="54864" cy="62179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53128" y="2139696"/>
            <a:ext cx="4187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453128" y="2377440"/>
            <a:ext cx="4187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· CTEs (WITH) · DATEDIFF · DATE_FORMAT · Subqueries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343400" y="2816352"/>
            <a:ext cx="4389120" cy="621792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43400" y="2816352"/>
            <a:ext cx="54864" cy="6217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53128" y="2852928"/>
            <a:ext cx="4187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53128" y="3090672"/>
            <a:ext cx="4187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 · RANK · LAG · LEAD · SUM OVER · NTILE · PERCENT_RANK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343400" y="3547872"/>
            <a:ext cx="4389120" cy="1344168"/>
          </a:xfrm>
          <a:prstGeom prst="rect">
            <a:avLst/>
          </a:prstGeom>
          <a:solidFill>
            <a:srgbClr val="F0F7FD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480560" y="36027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— Q9: Patient Risk Tier  (CASE WHEN + CTE)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480560" y="3895344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AbnormalCounts AS (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PatientID, COUNT(*) AS AbnormalLabCount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labs WHERE ...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PatientID 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WHEN Age&gt;=60 AND AbnormalLabCount&gt;=3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THEN 'High Risk'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WHEN Age&gt;=45 OR AbnormalLabCount&gt;=2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THEN 'Medium Risk'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ELSE 'Low Risk' END AS RiskTier ...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Excel Data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0" y="173736"/>
            <a:ext cx="1920240" cy="320040"/>
          </a:xfrm>
          <a:prstGeom prst="rect">
            <a:avLst/>
          </a:prstGeom>
          <a:solidFill>
            <a:srgbClr val="0A4F3D"/>
          </a:solidFill>
          <a:ln w="12700">
            <a:solidFill>
              <a:srgbClr val="0A4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7373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Formulas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51960" cy="978408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54864" cy="9784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078992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VLOOKUP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1399032"/>
            <a:ext cx="4041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Cross-sheet JOIN — pull DiagnosisName, DoctorName, OutcomeName into patient rows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251960" cy="978408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54864" cy="97840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1078992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37176" y="1399032"/>
            <a:ext cx="4041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 in days between AdmissionDate and DischargeDate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121408"/>
            <a:ext cx="4251960" cy="978408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21408"/>
            <a:ext cx="54864" cy="9784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194560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+ VLOOKUP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" y="2514600"/>
            <a:ext cx="4041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test flag — cross-sheet lookup combined with conditional in one formula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2121408"/>
            <a:ext cx="4251960" cy="978408"/>
          </a:xfrm>
          <a:prstGeom prst="rect">
            <a:avLst/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121408"/>
            <a:ext cx="54864" cy="97840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37176" y="2194560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IF (3-lvl)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37176" y="2514600"/>
            <a:ext cx="4041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severity: Critical / Serious / Moderate / Mild — age, outcome, stay, cost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236976"/>
            <a:ext cx="4251960" cy="978408"/>
          </a:xfrm>
          <a:prstGeom prst="rect">
            <a:avLst/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236976"/>
            <a:ext cx="54864" cy="978408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310128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RANK.EQ + RANK.AVG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" y="3630168"/>
            <a:ext cx="4041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each patient's treatment cost — mirrors SQL RANK() window function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3236976"/>
            <a:ext cx="4251960" cy="978408"/>
          </a:xfrm>
          <a:prstGeom prst="rect">
            <a:avLst/>
          </a:prstGeom>
          <a:solidFill>
            <a:srgbClr val="F5F5F5"/>
          </a:solidFill>
          <a:ln w="12700">
            <a:solidFill>
              <a:srgbClr val="5F5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236976"/>
            <a:ext cx="54864" cy="978408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37176" y="3310128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COUNTIF + SUMIF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37176" y="3630168"/>
            <a:ext cx="4041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count per diagnosis · Revenue per doctor — cross-sheet aggregation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20624" y="44165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Pivot Tables  — 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12848" y="4416552"/>
            <a:ext cx="6492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1: Count + total cost by outcome (Recovered 358 · Complicated 341 · Deceased 301 · Total ₹59.5L)   |   Pivot 2: Per-patient cost for age 20–23 cohort (48 patients · ₹2.67L total spend)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Python  ·  ML Model  ·  Streamlit App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47472" cy="34747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2070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 for all 6 CSVs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29768" y="1353312"/>
            <a:ext cx="36576" cy="274320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636776"/>
            <a:ext cx="347472" cy="34747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6367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(JOIN)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18379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pd.merge() chain — patients + diagnoses + doctors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9768" y="1984248"/>
            <a:ext cx="36576" cy="274320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67712"/>
            <a:ext cx="347472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267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26771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468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DATEDIFF → LengthOfStay  ·  np.where → HighRisk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29768" y="2615184"/>
            <a:ext cx="36576" cy="274320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98648"/>
            <a:ext cx="347472" cy="34747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98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28986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Lab Count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0998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Per-patient count of out-of-range test results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9768" y="3246120"/>
            <a:ext cx="36576" cy="274320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529584"/>
            <a:ext cx="347472" cy="34747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529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352958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37307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 (class_weight='balanced')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9768" y="3877056"/>
            <a:ext cx="36576" cy="274320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160520"/>
            <a:ext cx="347472" cy="34747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160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4160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App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43616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live risk prediction from user inputs</a:t>
            </a:r>
            <a:endParaRPr lang="en-US" sz="80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914400"/>
            <a:ext cx="416052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— Patient Risk Stratification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60120"/>
            <a:ext cx="512064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0" y="10058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Logistic Regression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0" y="1426464"/>
            <a:ext cx="3291840" cy="448056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0" y="1463040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577840" y="1655064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 ·  LengthOfStay  ·  TreatmentCost  ·  AbnormalLabCount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5486400" y="1947672"/>
            <a:ext cx="3291840" cy="448056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77840" y="1984248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217627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Recovered   |   1 = Complicated or Deceased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486400" y="2468880"/>
            <a:ext cx="3291840" cy="448056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577840" y="2505456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577840" y="2697480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 ·  20% test  ·  random_state = 42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2990088"/>
            <a:ext cx="3291840" cy="448056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577840" y="3026664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577840" y="3218688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'balanced' — corrects outcome imbalance in dataset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486400" y="3511296"/>
            <a:ext cx="3291840" cy="448056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577840" y="354787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77840" y="3739896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 ·  real-time prediction  ·  .pkl model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486400" y="41148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Tiers Output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0" y="4425696"/>
            <a:ext cx="1581912" cy="521208"/>
          </a:xfrm>
          <a:prstGeom prst="rect">
            <a:avLst/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59552" y="4462272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559552" y="4672584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Age≥60 · Bad outcome · 3+ abnormal labs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7187184" y="4425696"/>
            <a:ext cx="1581912" cy="521208"/>
          </a:xfrm>
          <a:prstGeom prst="rect">
            <a:avLst/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60336" y="4462272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260336" y="4672584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Age≥45 · Complicated · 2+ abnormal labs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Three Tools Connect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business questions were answered in all three tools — proving analytical thinking, not just syntax.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1389888"/>
            <a:ext cx="2487168" cy="329184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" y="1389888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34640" y="1389888"/>
            <a:ext cx="1938528" cy="32918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9504" y="1389888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40680" y="1389888"/>
            <a:ext cx="1938528" cy="32918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95544" y="1389888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98080" y="1389888"/>
            <a:ext cx="1508760" cy="32918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52944" y="1389888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8686800" cy="420624"/>
          </a:xfrm>
          <a:prstGeom prst="rect">
            <a:avLst/>
          </a:prstGeom>
          <a:solidFill>
            <a:srgbClr val="E6F1FB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" y="18653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lab patients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2889504" y="18653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WHERE + HAVING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5495544" y="18653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+ VLOOKUP lab flag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7552944" y="1865376"/>
            <a:ext cx="1399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abnormal_conditions dict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228600" y="2286000"/>
            <a:ext cx="8686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" y="23408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risk classification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2889504" y="2340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CASE WHEN + CTE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5495544" y="2340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IF severity score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7552944" y="2340864"/>
            <a:ext cx="1399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np.where() → ML target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228600" y="2761488"/>
            <a:ext cx="8686800" cy="420624"/>
          </a:xfrm>
          <a:prstGeom prst="rect">
            <a:avLst/>
          </a:prstGeom>
          <a:solidFill>
            <a:srgbClr val="E6F1FB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" y="281635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performance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2889504" y="28163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GROUP BY + aggregates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5495544" y="28163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 revenue per doctor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7552944" y="2816352"/>
            <a:ext cx="1399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merge() + groupby().agg()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228600" y="3236976"/>
            <a:ext cx="8686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" y="32918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2889504" y="32918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— LAG + cumulative SUM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5495544" y="32918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 by outcome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7552944" y="3291840"/>
            <a:ext cx="1399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.dt.to_period() + groupby()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228600" y="3712464"/>
            <a:ext cx="8686800" cy="420624"/>
          </a:xfrm>
          <a:prstGeom prst="rect">
            <a:avLst/>
          </a:prstGeom>
          <a:solidFill>
            <a:srgbClr val="E6F1FB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" y="37673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segmentation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889504" y="37673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 — NTILE + PERCENT_RANK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5495544" y="37673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RANK.EQ / RANK.AVG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7552944" y="3767328"/>
            <a:ext cx="1399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.rank() + pd.qcut()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228600" y="4187952"/>
            <a:ext cx="8686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464" y="42428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2889504" y="424281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— DATEDIFF + GROUP BY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5495544" y="424281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 formula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7552944" y="4242816"/>
            <a:ext cx="1399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.dt.days difference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What's Next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06040" cy="1234440"/>
          </a:xfrm>
          <a:prstGeom prst="rect">
            <a:avLst/>
          </a:prstGeom>
          <a:solidFill>
            <a:srgbClr val="122D4B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0604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 + 18 analyst queries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606040" cy="1234440"/>
          </a:xfrm>
          <a:prstGeom prst="rect">
            <a:avLst/>
          </a:prstGeom>
          <a:solidFill>
            <a:srgbClr val="122D4B"/>
          </a:solidFill>
          <a:ln w="12700">
            <a:solidFill>
              <a:srgbClr val="0F6E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260604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0584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46120" y="135331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(O365)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6459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formulas + VLOOKUP + RANK + Pivot tables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06040" cy="1234440"/>
          </a:xfrm>
          <a:prstGeom prst="rect">
            <a:avLst/>
          </a:prstGeom>
          <a:solidFill>
            <a:srgbClr val="122D4B"/>
          </a:solidFill>
          <a:ln w="12700">
            <a:solidFill>
              <a:srgbClr val="534A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14400"/>
            <a:ext cx="260604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0584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26480" y="135331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6459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feature engineering, data merging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377440"/>
            <a:ext cx="2606040" cy="1234440"/>
          </a:xfrm>
          <a:prstGeom prst="rect">
            <a:avLst/>
          </a:prstGeom>
          <a:solidFill>
            <a:srgbClr val="122D4B"/>
          </a:solidFill>
          <a:ln w="12700">
            <a:solidFill>
              <a:srgbClr val="854F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377440"/>
            <a:ext cx="260604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46888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5760" y="281635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1089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Vectorised ops, np.where, broadcasting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46120" y="2377440"/>
            <a:ext cx="2606040" cy="1234440"/>
          </a:xfrm>
          <a:prstGeom prst="rect">
            <a:avLst/>
          </a:prstGeom>
          <a:solidFill>
            <a:srgbClr val="122D4B"/>
          </a:solidFill>
          <a:ln w="12700">
            <a:solidFill>
              <a:srgbClr val="A32D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377440"/>
            <a:ext cx="2606040" cy="54864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46888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46120" y="281635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46120" y="31089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train/test · metrics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26480" y="2377440"/>
            <a:ext cx="2606040" cy="1234440"/>
          </a:xfrm>
          <a:prstGeom prst="rect">
            <a:avLst/>
          </a:prstGeom>
          <a:solidFill>
            <a:srgbClr val="122D4B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377440"/>
            <a:ext cx="26060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46888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126480" y="281635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31089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patient risk prediction app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3886200"/>
            <a:ext cx="8412480" cy="868680"/>
          </a:xfrm>
          <a:prstGeom prst="rect">
            <a:avLst/>
          </a:prstGeom>
          <a:solidFill>
            <a:srgbClr val="091D3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950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 →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422452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 ·  SQL Q19 &amp; Q20 (cohort analysis + executive CTE dashboard)  ·  Extended Python EDA with Matplotlib / Seaborn  ·  Random Forest vs Logistic Regression comparison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Hiteshi Aglawe  ·  Aspiring Data Analyst  ·  SQL · Python · Excel · Power BI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1112</Words>
  <Application>Microsoft Office PowerPoint</Application>
  <PresentationFormat>On-screen Show (16:9)</PresentationFormat>
  <Paragraphs>212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Data Analytics — Project Presentation</dc:title>
  <dc:subject>PptxGenJS Presentation</dc:subject>
  <dc:creator>Hiteshi Aglawe</dc:creator>
  <cp:lastModifiedBy>Hiteshi Aglawe</cp:lastModifiedBy>
  <cp:revision>2</cp:revision>
  <dcterms:created xsi:type="dcterms:W3CDTF">2026-04-30T17:53:44Z</dcterms:created>
  <dcterms:modified xsi:type="dcterms:W3CDTF">2026-05-01T10:14:53Z</dcterms:modified>
</cp:coreProperties>
</file>